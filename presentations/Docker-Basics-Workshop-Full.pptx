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-914400"/>
            <a:ext cx="3840480" cy="384048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Docker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Made Simple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🐳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34440" y="3456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Workshop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– What We'll Cover Today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94360"/>
            <a:ext cx="7315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🐳  What is Docker?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🔥  The Problem Docker Solves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🆚  Docker vs Virtual Machines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🧱  Core Concepts: Images &amp; Containers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🌐  Docker Hub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🎓  Hands-On Demo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🚀  Next Steps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30 minutes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Docker? 🐳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8368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a platform that packages applications with everything they need to run, then runs them anywhere.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Open-source containerisation platform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Package app + all dependencies together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Run consistently across every environment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Lightweight and blazing fast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594360"/>
            <a:ext cx="3200400" cy="3749040"/>
          </a:xfrm>
          <a:prstGeom prst="roundRect">
            <a:avLst>
              <a:gd name="adj" fmla="val 2857"/>
            </a:avLst>
          </a:prstGeom>
          <a:solidFill>
            <a:srgbClr val="1A3A5C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188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once,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🐳</a:t>
            </a:r>
            <a:endParaRPr lang="en-US" sz="6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Shipping Container Analogy 🚢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8F0"/>
          </a:solidFill>
          <a:ln w="25400">
            <a:solidFill>
              <a:srgbClr val="CC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Containers (1950s) 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 was different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cargo took weeks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got damaged frequently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chaos at ports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loading equipment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Containers 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078992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boxes – one size fits all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Load/unload in hours, not weeks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fully protected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ship in the world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Revolutionised global trade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206240"/>
            <a:ext cx="8595360" cy="320040"/>
          </a:xfrm>
          <a:prstGeom prst="roundRect">
            <a:avLst>
              <a:gd name="adj" fmla="val 22857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2245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does the same thing for software! 🐳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"It Works on My Machine" Problem 😫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Docker – Everyone has a different environment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2788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837590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Developer's Laptop 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Python 3.9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Node.js 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 works!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Teammate's Laptop 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Python 3.7  (wrong version!)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Node.js 16  (wrong version!)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 broken!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Server 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Different OS (Ubuntu vs Alpine)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Missing libraries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App crashes!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Docker – Consistency Everywhere ✅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Docker – Same container = same behaviour, always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27889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837590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Developer's Laptop 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Docker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Python 3.9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Node.js 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App works!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Teammate's Laptop 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Same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App works!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Server 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Same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App works!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Benefits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EEF5FF"/>
          </a:solidFill>
          <a:ln w="25400">
            <a:solidFill>
              <a:srgbClr val="1A3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1A3A8C"/>
          </a:solidFill>
          <a:ln w="12700">
            <a:solidFill>
              <a:srgbClr val="1A3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👨‍💻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Consistent development environment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Easy onboarding (minutes vs days)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"works on my machine" issues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locally like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007700"/>
          </a:solidFill>
          <a:ln w="12700">
            <a:solidFill>
              <a:srgbClr val="00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Operations 🛠️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Predictable deployments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Easy scaling up or down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Efficient resource usage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Quick rollbacks when needed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FFF8EE"/>
          </a:solidFill>
          <a:ln w="25400">
            <a:solidFill>
              <a:srgbClr val="8B4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8B4500"/>
          </a:solidFill>
          <a:ln w="12700">
            <a:solidFill>
              <a:srgbClr val="8B4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Faster time to market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Lower infrastructure costs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Improved reliability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Happy customers 😊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Virtual Machines –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8F0"/>
          </a:solidFill>
          <a:ln w="25400">
            <a:solidFill>
              <a:srgbClr val="CC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🖥️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384048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97280"/>
            <a:ext cx="36210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Computer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Hypervisor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VM1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Guest OS  ← Full OS!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VM2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Guest OS  ← Full OS!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App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VM = 2–20 GB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time = 1–2 minutes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8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384048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97280"/>
            <a:ext cx="36210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Computer (shared 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Docker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App1 container  ← No OS!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App2 container  ← No OS!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App3 container  ← No OS!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Container = 10–500 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time = 1–2 seconds ⚡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VMs – Comparison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58368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2–20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10–500 MB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seconds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Near-native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(OS)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041648"/>
            <a:ext cx="8412480" cy="411480"/>
          </a:xfrm>
          <a:prstGeom prst="roundRect">
            <a:avLst>
              <a:gd name="adj" fmla="val 20000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05993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much lighter and faster! ⚡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8F0"/>
          </a:solidFill>
          <a:ln w="25400">
            <a:solidFill>
              <a:srgbClr val="CC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Virtual Machines 🖥️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 a different OS (Windows on Mac)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hardware-level isolation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Legacy applications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Security-critical environments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8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Docker Containers 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Modern applications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Microservices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 deployment &amp; scaling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Resource-efficient workloads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Development environments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2245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You can use both together – Docker runs inside VMs too!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#1 – Docker Image 🖼️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Image?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Blueprint / template for containers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Contains app + ALL dependencies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Read-only (immutable)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Stored locally or on Docker Hub</a:t>
            </a:r>
            <a:pPr indent="0" marL="0">
              <a:spcAft>
                <a:spcPts val="8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Like a RECIPE  (blueprint)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Like a CLASS in programming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  Like a COOKIE CUTTER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1A3A5C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7132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python:3.9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572768"/>
            <a:ext cx="320040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664208"/>
            <a:ext cx="29809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OS (minimal)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3.9 runtime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package manager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app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libraries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39502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python:3.9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#2 – Docker Container 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Container?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Running instance of an image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Isolated environment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Can read / write while running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Temporary (unless data is saved)</a:t>
            </a:r>
            <a:pPr indent="0" marL="0">
              <a:spcAft>
                <a:spcPts val="8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🍝  Like a DISH made from a recipe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Like an OBJECT from a class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🍪  Like a COOKIE from a cutter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594360"/>
            <a:ext cx="3291840" cy="3749040"/>
          </a:xfrm>
          <a:prstGeom prst="roundRect">
            <a:avLst>
              <a:gd name="adj" fmla="val 2778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7132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Containers!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572768"/>
            <a:ext cx="3200400" cy="2606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664208"/>
            <a:ext cx="298094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python:3.9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Container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(web server)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Container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(API server)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Container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(test runner)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Container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(background worker)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Container Relationship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Docker Image      │  ← Blueprint (stored on disk)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"python:3.9"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└──────────┬──────────┘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├──→  Container 1  (running web app)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├──→  Container 2  (running API)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├──→  Container 3  (running tests)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└──→  Container 4  (stopped)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34290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→ Many containers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one cookie cutter → Many cookies 🍪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42900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49300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template  |  Container = running instance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– The Image Registry 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Hub?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registry for Docker images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Like GitHub – but for images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Free to use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Official verified images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12848"/>
          <a:ext cx="4754880" cy="91440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Cache/DB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03520" y="594360"/>
            <a:ext cx="3566160" cy="3749040"/>
          </a:xfrm>
          <a:prstGeom prst="roundRect">
            <a:avLst>
              <a:gd name="adj" fmla="val 2564"/>
            </a:avLst>
          </a:prstGeom>
          <a:solidFill>
            <a:srgbClr val="1A3A5C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7132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97880" y="12801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🌐</a:t>
            </a:r>
            <a:endParaRPr lang="en-US" sz="6800" dirty="0"/>
          </a:p>
        </p:txBody>
      </p:sp>
      <p:sp>
        <p:nvSpPr>
          <p:cNvPr id="12" name="Text 9"/>
          <p:cNvSpPr/>
          <p:nvPr/>
        </p:nvSpPr>
        <p:spPr>
          <a:xfrm>
            <a:off x="5394960" y="2834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pull &amp;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 for free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Tags – Versions &amp; Variants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have tags for different versions and sizes: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8595360" cy="23774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83759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python:3.9           ← Python 3.9 full 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python:3.9-slim      ← Python 3.9 smaller (~50%)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python:3.9-alpine    ← Python 3.9 smallest (~90% smaller)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python:latest        ← Latest version (avoid in production!)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nginx:1.25           ← Specific nginx 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nginx:alpine         ← Alpine-based (smallest)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nginx:latest         ← Latest (unpredictable!)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5204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58444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DO: Use specific versions in production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35204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58444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DON'T: Use "latest" tag in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Your Computer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┌────────────────────────────────────┐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Docker Desktop  (GUI) 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└────────────────────────────────────┘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↕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┌────────────────────────────────────┐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Docker CLI  (Commands)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$ docker run ...      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└────────────────────────────────────┘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↕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┌────────────────────────────────────┐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Docker Engine  (Daemon)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• Manages containers  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• Manages images                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└────────────────────────────────────┘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↕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┌────────────────────────────────────┐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Containers  [App1] [App2] [App3] │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└────────────────────────────────────┘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Workflow – Typical Development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621792"/>
            <a:ext cx="731520" cy="73152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435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Image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933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91640" y="7589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30552" y="621792"/>
            <a:ext cx="731520" cy="73152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1435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Container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196596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9933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-it python:3.9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0" y="7589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39312" y="621792"/>
            <a:ext cx="731520" cy="73152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91840" y="1435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 Test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196596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9933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(make your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60" y="7589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148072" y="621792"/>
            <a:ext cx="731520" cy="73152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1435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96596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933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myapp 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75895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96ED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656832" y="621792"/>
            <a:ext cx="731520" cy="73152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62179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09360" y="14356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Hub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1965960"/>
            <a:ext cx="1371600" cy="685800"/>
          </a:xfrm>
          <a:prstGeom prst="roundRect">
            <a:avLst>
              <a:gd name="adj" fmla="val 9333"/>
            </a:avLst>
          </a:prstGeom>
          <a:solidFill>
            <a:srgbClr val="1E1E2E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99339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myapp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28163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Deploy Anywhere  →  docker run myapp  →  Works Everywhere! 🌍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3383280"/>
            <a:ext cx="859536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474720"/>
            <a:ext cx="83759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8080:80 --name webapp myapp:v1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Your First Container 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Check Docker is installed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--version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Run Hello World (downloads + runs automatically!)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Pull the Python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python:3.9-slim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Run an interactive Python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python:3.9-slim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Run Nginx web server in the background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nginx:alpine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Open in your browser → http://localhost:8080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Docker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Images 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&lt;image&gt;         # Download from Docker 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               # List all local 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&lt;image&gt;          # Remove an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name .      # Build image from Dockerfile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Containers 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&lt;image&gt;          # Create and start a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&lt;image&gt;    # Background + port mapping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                  # List running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                # List ALL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&lt;id&gt;            # Stop a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&lt;id&gt;              # Remove a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&lt;id&gt;            # View container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&lt;id&gt; sh     # Open shell inside container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Cleanup 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prune -a      # Remove ALL unused resources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docker run Flags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21792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Detached / 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-d 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terminal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-it ubuntu bash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 8080:80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mapping (host:container)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-p 8080:80 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--name myapp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container a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--name web 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-v data:/data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-v mydata:/data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-e KEY=val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-e DB=postgres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Auto-remove when stopped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--rm python:3.9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1605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docker run -d -p 3000:3000 --name webapp myapp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Mapping Explained 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Port Mapping 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3840480" cy="129844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15568"/>
            <a:ext cx="36210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Computer      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       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Port 80  (isolated)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❌ Cannot access!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594360"/>
            <a:ext cx="3931920" cy="1874520"/>
          </a:xfrm>
          <a:prstGeom prst="roundRect">
            <a:avLst>
              <a:gd name="adj" fmla="val 4878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Port Mapping 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3840480" cy="129844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15568"/>
            <a:ext cx="3621024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Computer       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        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8080   ←──→    Port 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Accessible!       App runs here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1737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51760"/>
            <a:ext cx="83759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8080:80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↑      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host port   container 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Access: http://localhost:8080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Use Cases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EEF5FF"/>
          </a:solidFill>
          <a:ln w="25400">
            <a:solidFill>
              <a:srgbClr val="1A3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1A3A8C"/>
          </a:solidFill>
          <a:ln w="12700">
            <a:solidFill>
              <a:srgbClr val="1A3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👨‍💻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Consistent team environments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 onboarding for new devs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Isolated testing environments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Match production locally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007700"/>
          </a:solidFill>
          <a:ln w="12700">
            <a:solidFill>
              <a:srgbClr val="00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Easy horizontal scaling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Rolling zero-downtime updates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Isolation &amp; security sandboxing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Cloud-ready deployment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FFF8EE"/>
          </a:solidFill>
          <a:ln w="25400">
            <a:solidFill>
              <a:srgbClr val="8B4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8B4500"/>
          </a:solidFill>
          <a:ln w="12700">
            <a:solidFill>
              <a:srgbClr val="8B4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⚙️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test pipelines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Continuous delivery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Reproducible builds every time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Environment parity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 – Microservices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8F0"/>
          </a:solidFill>
          <a:ln w="25400">
            <a:solidFill>
              <a:srgbClr val="CC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Monolith 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384048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15568"/>
            <a:ext cx="36210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One Big Application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┌───────────────────┐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Auth + API +     │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Database +       │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Frontend         │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+ everything     │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└───────────────────┘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scale parts independently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Docker 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384048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15568"/>
            <a:ext cx="36210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┌──────┐ ┌──────┐ ┌──────┐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Auth │ │  API │ │  DB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:3001│ │ :3000│ │ :5432│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└──────┘ └──────┘ └──────┘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┌──────┐ ┌──────┐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│Front │ │Cache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:80  │ │ :6379│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└──────┘ └──────┘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each part independently!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Ecosystem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EEF5FF"/>
          </a:solidFill>
          <a:ln w="25400">
            <a:solidFill>
              <a:srgbClr val="1A3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🐳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777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runtime that runs containers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EEF5FF"/>
          </a:solidFill>
          <a:ln w="25400">
            <a:solidFill>
              <a:srgbClr val="0055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7772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069080" y="777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188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app for Mac, Windows &amp; Linux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594360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EEF5FF"/>
          </a:solidFill>
          <a:ln w="25400">
            <a:solidFill>
              <a:srgbClr val="0077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772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95160" y="777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95160" y="11887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registry – GitHub for images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EEF5FF"/>
          </a:solidFill>
          <a:ln w="25400">
            <a:solidFill>
              <a:srgbClr val="774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🎼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14300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7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971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multi-container apps in YAML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377440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EEF5FF"/>
          </a:solidFill>
          <a:ln w="25400">
            <a:solidFill>
              <a:srgbClr val="660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5603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06908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Scout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69080" y="2971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for images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377440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EEF5FF"/>
          </a:solidFill>
          <a:ln w="25400">
            <a:solidFill>
              <a:srgbClr val="993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5603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☸️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995160" y="2560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971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at scale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– Multi-Container Apps 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FF3CD"/>
          </a:solidFill>
          <a:ln w="25400">
            <a:solidFill>
              <a:srgbClr val="CC8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Running multiple containers manually is tedious and error-prone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Define everything in docker-compose.yml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5486400" cy="25146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56816"/>
            <a:ext cx="526694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nginx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"80:80"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POSTGRES_PASSWORD: 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db-data:/var/lib/postgresql/data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db-data: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865376"/>
            <a:ext cx="2926080" cy="1097280"/>
          </a:xfrm>
          <a:prstGeom prst="roundRect">
            <a:avLst>
              <a:gd name="adj" fmla="val 8333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everything: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926080" cy="59436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2377440"/>
            <a:ext cx="270662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035808"/>
            <a:ext cx="2926080" cy="1344168"/>
          </a:xfrm>
          <a:prstGeom prst="roundRect">
            <a:avLst>
              <a:gd name="adj" fmla="val 6803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1546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cover this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 7! 📝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Preview ☸️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1417320"/>
          </a:xfrm>
          <a:prstGeom prst="roundRect">
            <a:avLst>
              <a:gd name="adj" fmla="val 6452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83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Kubernetes?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platform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hundreds or thousands of containers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Auto-scaling, self-healing, load balancing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FF8F0"/>
          </a:solidFill>
          <a:ln w="25400">
            <a:solidFill>
              <a:srgbClr val="CC6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762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containers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machine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55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scaling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10312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762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☸️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containers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MANY machines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2336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cover Kubernetes after Docker basics! 🚀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Best Practices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image tags (not "latest")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images small (use alpine base)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per container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.dockerignore file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non-root user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images for vulnerabilities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658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secrets or passwords in images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"latest" tag in production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services in one container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security updates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root user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&amp; Solutions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9494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Port already in use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621792"/>
            <a:ext cx="4389120" cy="804672"/>
          </a:xfrm>
          <a:prstGeom prst="roundRect">
            <a:avLst>
              <a:gd name="adj" fmla="val 11364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69494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docker ps → find container → docker stop &lt;id&gt;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9664" y="786384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276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Cannot connect to Docker daemon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4389120" cy="804672"/>
          </a:xfrm>
          <a:prstGeom prst="roundRect">
            <a:avLst>
              <a:gd name="adj" fmla="val 11364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62763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Start Docker Desktop – it must be running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9664" y="1719072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603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Image not found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2487168"/>
            <a:ext cx="4389120" cy="804672"/>
          </a:xfrm>
          <a:prstGeom prst="roundRect">
            <a:avLst>
              <a:gd name="adj" fmla="val 11364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25603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Check spelling and run docker pull first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69664" y="2651760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3931920" cy="804672"/>
          </a:xfrm>
          <a:prstGeom prst="roundRect">
            <a:avLst>
              <a:gd name="adj" fmla="val 11364"/>
            </a:avLst>
          </a:prstGeom>
          <a:solidFill>
            <a:srgbClr val="FFF0F0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930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Container exits immediately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3419856"/>
            <a:ext cx="4389120" cy="804672"/>
          </a:xfrm>
          <a:prstGeom prst="roundRect">
            <a:avLst>
              <a:gd name="adj" fmla="val 11364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49300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docker logs &lt;id&gt; to see what went wrong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69664" y="3584448"/>
            <a:ext cx="320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96ED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– Your Docker Journey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8046720" cy="530352"/>
          </a:xfrm>
          <a:prstGeom prst="roundRect">
            <a:avLst>
              <a:gd name="adj" fmla="val 17241"/>
            </a:avLst>
          </a:prstGeom>
          <a:solidFill>
            <a:srgbClr val="F0FFF0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713232"/>
            <a:ext cx="384048" cy="384048"/>
          </a:xfrm>
          <a:prstGeom prst="ellipse">
            <a:avLst/>
          </a:prstGeom>
          <a:solidFill>
            <a:srgbClr val="007700"/>
          </a:solidFill>
          <a:ln w="12700">
            <a:solidFill>
              <a:srgbClr val="007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13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71323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Today: Docker Basics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243584"/>
            <a:ext cx="8046720" cy="530352"/>
          </a:xfrm>
          <a:prstGeom prst="roundRect">
            <a:avLst>
              <a:gd name="adj" fmla="val 17241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16736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31673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1-8: Hands-On Docker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847088"/>
            <a:ext cx="8046720" cy="530352"/>
          </a:xfrm>
          <a:prstGeom prst="roundRect">
            <a:avLst>
              <a:gd name="adj" fmla="val 17241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19202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8046720" cy="530352"/>
          </a:xfrm>
          <a:prstGeom prst="roundRect">
            <a:avLst>
              <a:gd name="adj" fmla="val 17241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23744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23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52374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Basics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054096"/>
            <a:ext cx="8046720" cy="530352"/>
          </a:xfrm>
          <a:prstGeom prst="roundRect">
            <a:avLst>
              <a:gd name="adj" fmla="val 17241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12724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046720" cy="530352"/>
          </a:xfrm>
          <a:prstGeom prst="roundRect">
            <a:avLst>
              <a:gd name="adj" fmla="val 17241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30752"/>
            <a:ext cx="384048" cy="384048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7307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Topics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Part 1 – Containerise Your First App 🚀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Learning Materials 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EEF5FF"/>
          </a:solidFill>
          <a:ln w="25400">
            <a:solidFill>
              <a:srgbClr val="1A3A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1A3A8C"/>
          </a:solidFill>
          <a:ln w="12700">
            <a:solidFill>
              <a:srgbClr val="1A3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docs.docker.com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docker.com/training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blog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EEF5FF"/>
          </a:solidFill>
          <a:ln w="25400">
            <a:solidFill>
              <a:srgbClr val="0077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007700"/>
          </a:solidFill>
          <a:ln w="12700">
            <a:solidFill>
              <a:srgbClr val="007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labs.play-with-docker.com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Workshop /docker-basics/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Katacoda Docker labs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official tutorials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59436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EEF5FF"/>
          </a:solidFill>
          <a:ln w="25400">
            <a:solidFill>
              <a:srgbClr val="8844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59436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884400"/>
          </a:solidFill>
          <a:ln w="12700">
            <a:solidFill>
              <a:srgbClr val="884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65836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170432"/>
            <a:ext cx="2560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Forums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tutorials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subreddit (r/docker)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DockerCon talks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Card – Save This Slide! 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85800"/>
            <a:ext cx="837590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Images 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python:3.9          # download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                   # list 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python:3.9           # remove image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Containers 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nginx                # run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nginx  # detached + 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                      # running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                    # all containers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&lt;id&gt;                # stop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&lt;id&gt;                  # remove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&lt;id&gt;                # view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&lt;id&gt; sh         # open shell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Cleanup ─────────────────────────────────────────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prune -a          # remove all unused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 – Try This Now! ⏱ 5 min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steps: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324612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837590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Pull the official Ubuntu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ubuntu:22.04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Run it interactively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ubuntu:22.04 bash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Inside the container,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/etc/os-release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"I am inside a container!"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Verify the container stopped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Clean 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&lt;container-id&gt;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packages apps WITH their dependencies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Containers are lightweight, isolated environments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Images are blueprints  →  Containers are instances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Docker Hub stores thousands of ready-to-use images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Much faster and lighter than Virtual Machines</a:t>
            </a:r>
            <a:endParaRPr lang="en-US" sz="17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Same environment everywhere – dev, test, production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4005072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0233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solves "it works on my machine" by packaging EVERYTHING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 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Part 0: Introduction (Done!)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1: Containerise your first app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2: Update &amp; rebuild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3: Share on Docker Hub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4: Volumes – data persistence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5: Bind mounts – live code editing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6: Multi-container apps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7: Docker Compose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8: Best practices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hands-on! 🎉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20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How is Docker different from a Virtual Machine?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Can I run Windows containers on Mac?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Is Docker free?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How do I deploy Docker containers to the cloud?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How do I handle secrets and passwords securely?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How do I make Docker builds faster?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EF5FF"/>
          </a:solidFill>
          <a:ln w="25400">
            <a:solidFill>
              <a:srgbClr val="249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– no question is too basic! 😊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17136"/>
            <a:ext cx="12192000" cy="54864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🙏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00000"/>
                </a:solidFill>
              </a:rPr>
              <a:t>🐳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GitHub: github.com/sanjay3107/docker-Kubernetes-workshop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Detailed guides in every folder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Hands-on exercises included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Ask questions anytime!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Open /docker-basics/part-01-containerize/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Docker – Full</dc:title>
  <dc:subject>PptxGenJS Presentation</dc:subject>
  <dc:creator>PptxGenJS</dc:creator>
  <cp:lastModifiedBy>PptxGenJS</cp:lastModifiedBy>
  <cp:revision>1</cp:revision>
  <dcterms:created xsi:type="dcterms:W3CDTF">2026-03-06T18:31:55Z</dcterms:created>
  <dcterms:modified xsi:type="dcterms:W3CDTF">2026-03-06T18:31:55Z</dcterms:modified>
</cp:coreProperties>
</file>